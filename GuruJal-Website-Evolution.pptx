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1A5468">
              <a:alpha val="30000"/>
            </a:srgbClr>
          </a:solidFill>
          <a:ln w="12700">
            <a:solidFill>
              <a:srgbClr val="1A546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F5A043">
              <a:alpha val="20000"/>
            </a:srgbClr>
          </a:solidFill>
          <a:ln w="12700">
            <a:solidFill>
              <a:srgbClr val="F5A04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INTERNAL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Website Evolution </a:t>
            </a:r>
            <a:pPr indent="0" marL="0">
              <a:buNone/>
            </a:pPr>
            <a:r>
              <a:rPr lang="en-US" sz="5600" b="1" dirty="0">
                <a:solidFill>
                  <a:srgbClr val="8DC6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modest, modern refresh — built for the next decade of growth.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45720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33BF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brand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45720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33BF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Faster foundation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45720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33BF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AI-ready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BF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for the GuruJal leadership team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6492240"/>
            <a:ext cx="228600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6492240"/>
            <a:ext cx="2286000" cy="54864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6492240"/>
            <a:ext cx="2286000" cy="54864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6492240"/>
            <a:ext cx="2286000" cy="54864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shipped — at a glance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focused build over the past few weeks: 30+ new composed pages, the same brand voice, mobile-first responsive design, and the foundation for AI assistance and analytics.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2468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COMPOSED PAGES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291840"/>
            <a:ext cx="2468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DC6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38328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BRAND CONTINUITY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2468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0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1792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RESPONSIVE BREAKPOINTS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3291840"/>
            <a:ext cx="2468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5256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AI-Ready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5256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ASSISTANT FOUNDATION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this matters: each tile lowers a friction point — for our users, for the team editing content, and for our future programmes.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reasons we invested in the refresh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611880" cy="365760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361188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 to modern web standards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old site was built on legacy WordPress. The refreshed pages are built on Next.js 16, TypeScript and Tailwind — same content, faster delivery, smaller hosting bill.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286000"/>
            <a:ext cx="3611880" cy="365760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286000"/>
            <a:ext cx="361188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DC6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Lift the mobile experience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42062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Half of our audience already visits on phones. The new pages are mobile-first — adequate padding, sticky section anchors, no horizontal overflow.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2286000"/>
            <a:ext cx="3611880" cy="365760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286000"/>
            <a:ext cx="361188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0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778240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Lay foundation for what's next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78240" y="42062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AI assistant, lead-capture analytics, a content-manageable CMS — each of these is now a small step away, instead of a six-month migration.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deliberately kept the same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Visitors familiar with GuruJal should feel at home immediately. The refresh isn't a re-brand — it's the same trusted GuruJal on a better foundation.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91440" cy="128016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colour palette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Teal, deep navy, cyan, orange and green — pixel-matched to the existing site.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926080"/>
            <a:ext cx="91440" cy="128016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imagery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 pond photos, team portraits, partner logos, event posters — same library of trusted visuals.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80560"/>
            <a:ext cx="91440" cy="128016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voice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120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'Where ideas meet impact', 'The bridge between policy and people' — the headlines you already use.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480560"/>
            <a:ext cx="91440" cy="128016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content structure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37960" y="5120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About, Solutions, Resources, Events, Careers — the menu visitors already know.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WHAT'S NEW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small wins that compound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of these are visually loud. Together they're the difference between a site that informs and one that engages.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394960" cy="182880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539496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Composed React pages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page is hand-composed from a shared component library — consistent look, instant page transitions, no WordPress page-builder bloat.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394960" cy="182880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743200"/>
            <a:ext cx="539496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Sticky section anchor nav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long page has a slim pill nav that pins under the header on scroll — visitors jump to Vision, Impact, Case Study in one click.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94960" cy="182880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46320"/>
            <a:ext cx="539496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20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Embedded PDF viewer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Reports and publications open inside the page — no more 'download this PDF, find it in your folder, open it'. Stays inside the site.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846320"/>
            <a:ext cx="5394960" cy="182880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846320"/>
            <a:ext cx="539496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5120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Lead-capture gateway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5669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Publications now ask for Name / Email / Phone before unlocking. Anonymous downloads turn into an addressable mailing list.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/ AFTER · HOMEPAGE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Homepage Hero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4A6878"/>
          </a:solidFill>
          <a:ln w="12700">
            <a:solidFill>
              <a:srgbClr val="4A6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hero with image and tagline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Visitors had to scroll to discover navigation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WordPress page-builder layout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quick way to jump to a specific section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486400" cy="4114800"/>
          </a:xfrm>
          <a:prstGeom prst="rect">
            <a:avLst/>
          </a:prstGeom>
          <a:solidFill>
            <a:srgbClr val="EAF7FB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Cinematic muted-video background (B&amp;W filter for restraint)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YouTube loading — no controls flash on first paint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Rotating headline rotates messaging without re-deploying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Sticky section anchor nav (Crisis · Approach · Impact · Events · Partners)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3BF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3 seconds are calmer and clearer. Visitors see the message, then their path.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/ AFTER · ABOUT 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About Page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4A6878"/>
          </a:solidFill>
          <a:ln w="12700">
            <a:solidFill>
              <a:srgbClr val="4A6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Long-scroll page in WordPress with stacked sections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Timeline rendered as a plain bullet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quick way to jump to Leadership or Awards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padding hugged the screen edge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486400" cy="4114800"/>
          </a:xfrm>
          <a:prstGeom prst="rect">
            <a:avLst/>
          </a:prstGeom>
          <a:solidFill>
            <a:srgbClr val="EAF7FB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 with section anchor nav (Vision · Journey · Leadership · Trustees · Awards · Partners)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Alternating-side journey timeline — 2019 → 2025 milestones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Round-headshot Leadership + Trustees grid with same visual weight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padding bumped to 24px so headlines never crowd the edge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3BF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 is now scannable in 30 seconds and deep-readable in 5 minutes. Visitors choose their depth.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/ AFTER · SOLUTION SUB-PAGE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 a Pond (representative of all six solutions)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4A6878"/>
          </a:solidFill>
          <a:ln w="12700">
            <a:solidFill>
              <a:srgbClr val="4A6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solution page built separately on WordPress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Inconsistent layouts across solutions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Mixed quality of stats / case studies / methodology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external links from Solutions menu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486400" cy="4114800"/>
          </a:xfrm>
          <a:prstGeom prst="rect">
            <a:avLst/>
          </a:prstGeom>
          <a:solidFill>
            <a:srgbClr val="EAF7FB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solution-detail component library (hero · nav · crisis · methodology · impact · case study)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solution page looks and behaves the same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Live-site backdrop image + solution wordmark in every hero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pages built: Support a Pond, Connect the Drops, Water Proofing, Eco Restoration, WeForWater, ESG Advisory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3BF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pattern, six implementations. Future solutions plug into the same shell in hours, not weeks.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/ AFTER · PUBLICATIONS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Reports &amp; Publications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4A6878"/>
          </a:solidFill>
          <a:ln w="12700">
            <a:solidFill>
              <a:srgbClr val="4A6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Reports menu linked directly to PDF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Publication pages had no lead-capture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Downloads happened in a separate browser tab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had no visibility into who was downloading what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486400" cy="4114800"/>
          </a:xfrm>
          <a:prstGeom prst="rect">
            <a:avLst/>
          </a:prstGeom>
          <a:solidFill>
            <a:srgbClr val="EAF7FB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report and publication has its own in-site 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Embedded PDF viewer with Download + Open-in-new-tab CTAs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Publications gated by a 3-field form (Name · Email · Phone)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Submission stored locally + ready to plug into a CRM / mailer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37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3BF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Anonymous downloads become a contact list. Same friction for the visitor — meaningful insight for the team.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TECHNICAL 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powers the new site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Modern, mainstream technology stack — well-supported, fast and easy to hire for.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97480"/>
            <a:ext cx="91440" cy="155448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Next.js 16 (App Router)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Server-rendered React framework — fastest production-ready stack on the web today.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6974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697480"/>
            <a:ext cx="91440" cy="1554480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3429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type-checking catches bugs before they ship. Easier for new engineers to ramp 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26974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697480"/>
            <a:ext cx="91440" cy="1554480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Tailwind CSS design tokens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32520" y="34290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colours, typography and spacing live in a single source of truth — easy to evolve.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526280"/>
            <a:ext cx="91440" cy="155448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54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 optimisation + lazy loading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 stay light even with 40+ portraits or hero photos. Big mobile-data win.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0560" y="45262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4526280"/>
            <a:ext cx="91440" cy="155448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754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Accessible section nav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0600" y="5257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Keyboard- and screen-reader-friendly. Inclusive design without the showy badge.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12480" y="45262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4526280"/>
            <a:ext cx="91440" cy="1554480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47548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SEO metadata per page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732520" y="5257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page ships its own title and description — better Google search snippets.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Quiet rules, consistent results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handful of rules every new page inherits — so visual quality doesn't depend on who's editing.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554480" cy="128016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#1A5468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2743200"/>
            <a:ext cx="1554480" cy="128016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3840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#1A3A4A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2743200"/>
            <a:ext cx="1554480" cy="1280160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CYAN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3840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#33BFE2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97880" y="2743200"/>
            <a:ext cx="1554480" cy="1280160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ORANGE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840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#F5A043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80960" y="2743200"/>
            <a:ext cx="1554480" cy="128016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GREEN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3840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#8DC63F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Manrope for headings, DM Sans for body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Brand-tinted skeletons while images 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Sticky section navs shrink the moment they stick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Cards lift and shadow on hover — same motion across pages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 CTA: same gradient block site-wide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&amp; RESPONSIVE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for the device people actually use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514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0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BREAKPOINT (PX)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228600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2514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768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48056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TABLET BREAKPOINT (PX)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228600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F0F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2514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1280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41248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DESKTOP BREAKPOINT (PX)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pages verified at each breakpoint — zero horizontal overflow.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lazy-loading + skeleton placeholders so the layout never goes blank during a fast scroll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padding bumped from 16px → 24px — headlines never hug the edge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Language-picker floating button hidden on phones — out of the thumb zone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Embedded PDF viewer collapses gracefully to ~80vh on mobile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Dev-mode image optimisation tuned so 40+ portraits don't stall the team page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SHIPPED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Sitemap of new composed pages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743200" cy="393192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94560"/>
            <a:ext cx="2743200" cy="457200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194560"/>
            <a:ext cx="2743200" cy="393192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2194560"/>
            <a:ext cx="2743200" cy="457200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28346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Solutions (overview)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a Pond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the Drops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 Proofing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 Restoration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WeForWater Fellowship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ESG Advisory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2743200" cy="393192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194560"/>
            <a:ext cx="2743200" cy="457200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28346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Reports &amp; Publications (overview)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Report 2022-23, 2023-24, 2024-25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Pond Rejuvenation SOP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Green Wall of Aravalli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SoP of Wells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Wells of Gurugram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0" y="2194560"/>
            <a:ext cx="2743200" cy="393192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2194560"/>
            <a:ext cx="2743200" cy="457200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55480" y="28346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Events (overview + filter)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HydroMingle Delhi 2025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Roots &amp; Recharge Symposium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Urban Adda 2025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3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Nature in Restored Landscapes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914400"/>
            <a:ext cx="5486400" cy="5486400"/>
          </a:xfrm>
          <a:prstGeom prst="ellipse">
            <a:avLst/>
          </a:prstGeom>
          <a:solidFill>
            <a:srgbClr val="33BFE2">
              <a:alpha val="25000"/>
            </a:srgbClr>
          </a:solidFill>
          <a:ln w="12700">
            <a:solidFill>
              <a:srgbClr val="33BFE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8DC63F">
              <a:alpha val="20000"/>
            </a:srgbClr>
          </a:solidFill>
          <a:ln w="12700">
            <a:solidFill>
              <a:srgbClr val="8DC63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A0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COMING SOON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GuruJal </a:t>
            </a:r>
            <a:pPr indent="0" marL="0">
              <a:buNone/>
            </a:pPr>
            <a:r>
              <a:rPr lang="en-US" sz="50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</a:t>
            </a:r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Assistant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scoped, careful rollout — not a chatbot for chatbot's sake.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IT WILL HANDLE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52120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33BF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Pond restoration enquiries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617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questions from communities, panchayats and CSR teams.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4023360"/>
            <a:ext cx="52120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33BF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Rainwater-harvesting questions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4617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Tied into the existing calculator at calculator.gurujal.org.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5440680"/>
            <a:ext cx="52120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33BF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623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Volunteer &amp; partnership info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6035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Routes interested visitors to the right team and form.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5440680"/>
            <a:ext cx="521208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33BF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5623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Finding the right report or page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6035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Acts as a smart in-site search across reports, events and pages.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BF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subtle sparkle icon sits in the bottom-right corner of every page — present, never pushy.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68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GuruJal · Website Evolution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693408"/>
            <a:ext cx="13716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6693408"/>
            <a:ext cx="13716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1296" y="6693408"/>
            <a:ext cx="13716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6693408"/>
            <a:ext cx="13716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follow-ups now within easy reach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the new foundation, each of these is a small step away — not a multi-month replatforming.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11880" cy="338328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361188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46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Connect lead-capture to CRM / mailer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4663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publications form already POSTs the data — wire it into a Google Sheet, HubSpot or Mailchimp and our newsletter list grows automatically.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2743200"/>
            <a:ext cx="3611880" cy="338328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743200"/>
            <a:ext cx="361188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DC6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00600" y="3703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Headless CMS for content editing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00600" y="4663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Editors can update copy, swap images and add events without touching code. Sanity, Contentful or a lightweight WordPress headless setup all plug in cleanly.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2743200"/>
            <a:ext cx="3611880" cy="3383280"/>
          </a:xfrm>
          <a:prstGeom prst="rect">
            <a:avLst/>
          </a:prstGeom>
          <a:solidFill>
            <a:srgbClr val="EAF7FB"/>
          </a:solidFill>
          <a:ln w="9525">
            <a:solidFill>
              <a:srgbClr val="D0F0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743200"/>
            <a:ext cx="361188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04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732520" y="3703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Roll out the AI assistant + analytics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732520" y="4663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8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Plausible / GA4 + the AI assistant we previewed — both light, additive, and turn-on-able when leadership greenlights them.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371600"/>
            <a:ext cx="6400800" cy="6400800"/>
          </a:xfrm>
          <a:prstGeom prst="ellipse">
            <a:avLst/>
          </a:prstGeom>
          <a:solidFill>
            <a:srgbClr val="1A5468">
              <a:alpha val="30000"/>
            </a:srgbClr>
          </a:solidFill>
          <a:ln w="12700">
            <a:solidFill>
              <a:srgbClr val="1A546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8DC63F">
              <a:alpha val="20000"/>
            </a:srgbClr>
          </a:solidFill>
          <a:ln w="12700">
            <a:solidFill>
              <a:srgbClr val="8DC63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280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GuruJal. </a:t>
            </a:r>
            <a:pPr indent="0" marL="0">
              <a:buNone/>
            </a:pPr>
            <a:r>
              <a:rPr lang="en-US" sz="4800" b="1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Better 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foundation.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Questions, feedback, or anything you'd like to see next — talk to us.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005840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33BF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+91-9311411998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communications@gurujal.org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3BF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Gurugram, Haryana, India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6400800"/>
            <a:ext cx="2286000" cy="73152"/>
          </a:xfrm>
          <a:prstGeom prst="rect">
            <a:avLst/>
          </a:prstGeom>
          <a:solidFill>
            <a:srgbClr val="1A5468"/>
          </a:solidFill>
          <a:ln w="12700">
            <a:solidFill>
              <a:srgbClr val="1A54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6400800"/>
            <a:ext cx="2286000" cy="73152"/>
          </a:xfrm>
          <a:prstGeom prst="rect">
            <a:avLst/>
          </a:prstGeom>
          <a:solidFill>
            <a:srgbClr val="33BFE2"/>
          </a:solidFill>
          <a:ln w="12700">
            <a:solidFill>
              <a:srgbClr val="33BF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6400800"/>
            <a:ext cx="2286000" cy="73152"/>
          </a:xfrm>
          <a:prstGeom prst="rect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6400800"/>
            <a:ext cx="2286000" cy="73152"/>
          </a:xfrm>
          <a:prstGeom prst="rect">
            <a:avLst/>
          </a:prstGeom>
          <a:solidFill>
            <a:srgbClr val="F5A043"/>
          </a:solidFill>
          <a:ln w="12700">
            <a:solidFill>
              <a:srgbClr val="F5A0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GuruJal · Website Evolution 2026</dc:title>
  <dc:subject>PptxGenJS Presentation</dc:subject>
  <dc:creator>GuruJal</dc:creator>
  <cp:lastModifiedBy>GuruJal</cp:lastModifiedBy>
  <cp:revision>1</cp:revision>
  <dcterms:created xsi:type="dcterms:W3CDTF">2026-05-27T09:24:53Z</dcterms:created>
  <dcterms:modified xsi:type="dcterms:W3CDTF">2026-05-27T09:24:53Z</dcterms:modified>
</cp:coreProperties>
</file>